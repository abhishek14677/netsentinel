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926080" cy="365760"/>
          </a:xfrm>
          <a:prstGeom prst="roundRect">
            <a:avLst/>
          </a:prstGeom>
          <a:solidFill>
            <a:srgbClr val="1E2943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🛡️  NIDS / NIPS ACTIVE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NetSentinel Dashboard</a:t>
            </a:r>
          </a:p>
          <a:p>
            <a:pPr>
              <a:defRPr sz="2600" b="1">
                <a:solidFill>
                  <a:srgbClr val="38BDF8"/>
                </a:solidFill>
                <a:latin typeface="Trebuchet MS"/>
              </a:defRPr>
            </a:pPr>
            <a:r>
              <a:t>Operator Control Plane &amp; Active Defense 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A comprehensive operational walkthrough for Security Analysts, SOC Engineers, and Network Administrators navigating real-time threat detection, kernel nftables enforcement, human-in-the-loop approvals, and disaster recovery.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754880"/>
            <a:ext cx="329184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32918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646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Real-Time 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6636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3-second reactive polling for active blocks, quarantine, and audit events.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754880"/>
            <a:ext cx="329184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4754880"/>
            <a:ext cx="3291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8646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Trebuchet MS"/>
              </a:defRPr>
            </a:pPr>
            <a:r>
              <a:t>Four Defense Modes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516636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Policy control ranging from passive monitor-only to strict active prevention.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4754880"/>
            <a:ext cx="329184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475488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8646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Trebuchet MS"/>
              </a:defRPr>
            </a:pPr>
            <a:r>
              <a:t>Kernel State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516636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Strict post-enforcement validation with cryptographic SHA-256 audit logs.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CORE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Executive Overview &amp; Defense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Bridging passive network intrusion monitoring and kernel-level active prevention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E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NetSentinel NIDS/NIPS Engine  |  Active Threat Defense Dashboard Guide  |  Slide 2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649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36499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Trebuchet MS"/>
              </a:defRPr>
            </a:pPr>
            <a: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29992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E2E8F0"/>
                </a:solidFill>
                <a:latin typeface="Calibri"/>
              </a:defRPr>
            </a:pPr>
            <a:r>
              <a:t>Passive NIDS (Snort/Suricata) alert analysts but cannot prevent lateral spread or data exfiltration in real time. Manual firewall edits introduce latency, human error, and dangerous lockouts.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299923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Delayed manual response enables attacker dwell time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Complex firewall syntax leads to misconfigurations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Lack of post-enforcement verification creates false sense of 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828800"/>
            <a:ext cx="33649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828800"/>
            <a:ext cx="33649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1938528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NetSentinel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286000"/>
            <a:ext cx="29992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E2E8F0"/>
                </a:solidFill>
                <a:latin typeface="Calibri"/>
              </a:defRPr>
            </a:pPr>
            <a:r>
              <a:t>An intelligent policy engine combining multi-factor correlation, calibrated risk scoring (0-100), automated nftables prevention, and live state verification in a single dashboard.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611880"/>
            <a:ext cx="299923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Calibrated risk scoring with safe AI anomaly capping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Dedicated 'inet netsentinel' kernel tables with timed sets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Immediate fail-safe rollback &amp; 1-click Emergency Stop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1828800"/>
            <a:ext cx="33649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828800"/>
            <a:ext cx="336499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938528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Trebuchet MS"/>
              </a:defRPr>
            </a:pPr>
            <a:r>
              <a:t>Operator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286000"/>
            <a:ext cx="29992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E2E8F0"/>
                </a:solidFill>
                <a:latin typeface="Calibri"/>
              </a:defRPr>
            </a:pPr>
            <a:r>
              <a:t>Empowers operators with clear visibility, impact preview before enforcement, live block countdown timers, and cryptographic SHA-256 tamper-evident audit trails.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611880"/>
            <a:ext cx="299923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Intuitive modern dark-mode security HUD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3-second real-time auto-refresh across all panels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Interactive lab threat simulator for instant dry-run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DEPLOYMENT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Launching &amp; Connecting to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Standard access procedure, universal launcher commands, and startup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E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NetSentinel NIDS/NIPS Engine  |  Active Threat Defense Dashboard Guide  |  Slide 3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2120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Quick Start Execution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defRPr sz="1200" b="1">
                <a:solidFill>
                  <a:srgbClr val="38BDF8"/>
                </a:solidFill>
                <a:latin typeface="Trebuchet MS"/>
              </a:defRPr>
            </a:pPr>
            <a:r>
              <a:t>Step 1: Universal Launcher Execution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Run 'netsentinel start' from any directory or execute './scripts/start_netsentinel.sh'. The engine initializes SQLite, creates nftables sets, and loads ML models.</a:t>
            </a:r>
          </a:p>
          <a:p>
            <a:pPr>
              <a:defRPr sz="1200" b="1">
                <a:solidFill>
                  <a:srgbClr val="38BDF8"/>
                </a:solidFill>
                <a:latin typeface="Trebuchet MS"/>
              </a:defRPr>
            </a:pPr>
            <a:r>
              <a:t>Step 2: Verify Service Listener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NetSentinel binds to 0.0.0.0:8000 via FastAPI &amp; Uvicorn. The background expiration worker starts automatically with a 5-second scanning cycle.</a:t>
            </a:r>
          </a:p>
          <a:p>
            <a:pPr>
              <a:defRPr sz="1200" b="1">
                <a:solidFill>
                  <a:srgbClr val="38BDF8"/>
                </a:solidFill>
                <a:latin typeface="Trebuchet MS"/>
              </a:defRPr>
            </a:pPr>
            <a:r>
              <a:t>Step 3: Open Browser Interface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Point any modern browser to http://127.0.0.1:8000 (local) or http://&lt;NODE_IP&gt;:8000 (remote SOC workstation). No plugins or complex dependencies required.</a:t>
            </a:r>
          </a:p>
          <a:p>
            <a:pPr>
              <a:defRPr sz="1200" b="1">
                <a:solidFill>
                  <a:srgbClr val="38BDF8"/>
                </a:solidFill>
                <a:latin typeface="Trebuchet MS"/>
              </a:defRPr>
            </a:pPr>
            <a:r>
              <a:t>Step 4: Automatic Polling Established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The frontend establishes a 3000ms periodic poll (/api/status) to render real-time state, block counters, and device discovery telemetry.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1937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19379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38528"/>
            <a:ext cx="4828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Trebuchet MS"/>
              </a:defRPr>
            </a:pPr>
            <a:r>
              <a:t>CLI Control Reference &amp; Startup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82803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Universal CLI Operations:</a:t>
            </a:r>
          </a:p>
          <a:p>
            <a:pPr>
              <a:defRPr sz="1050" b="1">
                <a:solidFill>
                  <a:srgbClr val="10B981"/>
                </a:solidFill>
                <a:latin typeface="Consolas"/>
              </a:defRPr>
            </a:pPr>
            <a:r>
              <a:t>$ netsentinel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 → Starts web dashboard &amp; protection daemon on port 8000</a:t>
            </a:r>
          </a:p>
          <a:p>
            <a:pPr>
              <a:defRPr sz="1050" b="1">
                <a:solidFill>
                  <a:srgbClr val="10B981"/>
                </a:solidFill>
                <a:latin typeface="Consolas"/>
              </a:defRPr>
            </a:pPr>
            <a:r>
              <a:t>$ netsentinel test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 → Executes automated 26-test verification suite</a:t>
            </a:r>
          </a:p>
          <a:p>
            <a:pPr>
              <a:defRPr sz="1050" b="1">
                <a:solidFill>
                  <a:srgbClr val="10B981"/>
                </a:solidFill>
                <a:latin typeface="Consolas"/>
              </a:defRPr>
            </a:pPr>
            <a:r>
              <a:t>$ netsentinel simulate &lt;1-6&gt;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 → Injects synthetic threat traffic for testing</a:t>
            </a:r>
          </a:p>
          <a:p>
            <a:pPr>
              <a:defRPr sz="1050" b="1">
                <a:solidFill>
                  <a:srgbClr val="10B981"/>
                </a:solidFill>
                <a:latin typeface="Consolas"/>
              </a:defRPr>
            </a:pPr>
            <a:r>
              <a:t>$ netsentinel verify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 → Validates SHA-256 cryptographic audit chain integrity</a:t>
            </a:r>
          </a:p>
          <a:p>
            <a:pPr>
              <a:defRPr sz="1050" b="1">
                <a:solidFill>
                  <a:srgbClr val="10B981"/>
                </a:solidFill>
                <a:latin typeface="Consolas"/>
              </a:defRPr>
            </a:pPr>
            <a:r>
              <a:t>$ netsentinel recover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 → Emergency: offline flush of all active nftables rules</a:t>
            </a:r>
          </a:p>
          <a:p>
            <a:pPr>
              <a:defRPr sz="1050" b="1">
                <a:solidFill>
                  <a:srgbClr val="10B981"/>
                </a:solidFill>
                <a:latin typeface="Consolas"/>
              </a:defRPr>
            </a:pPr>
            <a:r>
              <a:t>$ netsentinel export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 → Dumps current active Linux nftables ruleset to stdout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HUD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Dashboard Visual Topology &amp; HUD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High-level visual breakdown of navigation, sidebar controls, and active telemetry panels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E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NetSentinel NIDS/NIPS Engine  |  Active Threat Defense Dashboard Guide  |  Slide 4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728655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072865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103628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1. Top Navigation Bar — Global System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1036289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Houses brand identity, live Mode indicator pulse dot, Dry-Run state badge, Toggle Dry-Run button, and the 1-Click EMERGENCY STOP kill switch.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71800"/>
            <a:ext cx="3291840" cy="3200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71800"/>
            <a:ext cx="329184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8152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2. Operations Sidebar — Policy &amp; Aux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292608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Mode Selector: Modes A to D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ESP32 Hardware Status Card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Lab Threat Simulator Form for testing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971800"/>
            <a:ext cx="7253935" cy="914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2971800"/>
            <a:ext cx="725393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081528"/>
            <a:ext cx="68881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Trebuchet MS"/>
              </a:defRPr>
            </a:pPr>
            <a:r>
              <a:t>3. Metrics Overview — Live Tactical Counts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337560"/>
            <a:ext cx="68881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Four real-time counter cards: Active Blocks, Mode B Pending Approvals, Quarantined Devices, and Verified Enforcements.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023360"/>
            <a:ext cx="7253935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4023360"/>
            <a:ext cx="725393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4133088"/>
            <a:ext cx="68881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Trebuchet MS"/>
              </a:defRPr>
            </a:pPr>
            <a:r>
              <a:t>4. Active Defense Grids — Rule &amp; Inventory Lifecycle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389120"/>
            <a:ext cx="688817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Active Blocks Table with real-time second-by-second countdowns &amp; unblock buttons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Split Grid: Monitored LAN Inventory vs Quarantined Devices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Recent Response Actions &amp; Verification Audit Table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Protected Infrastructure &amp; Allowlist Manager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SAFETY &amp; FAIL-SAFES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Global Controls, Dry-Run &amp; Emergency Kill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Essential fail-safes designed to prevent administrative lockouts and network disruption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E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NetSentinel NIDS/NIPS Engine  |  Active Threat Defense Dashboard Guide  |  Slide 5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649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36499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Trebuchet MS"/>
              </a:defRPr>
            </a:pPr>
            <a:r>
              <a:t>Dry-Run Simulation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99923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F59E0B"/>
                </a:solidFill>
                <a:latin typeface="Trebuchet MS"/>
              </a:defRPr>
            </a:pPr>
            <a:r>
              <a:t>SAFE POLICY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299923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Toggled instantly via the top navbar button without restarts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Generates full nftables syntax and calculates impact in memory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Records actions with 'dry_run: true' in audit database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Zero kernel rules written — ideal for policy validation &amp;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828800"/>
            <a:ext cx="33649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828800"/>
            <a:ext cx="336499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1938528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Trebuchet MS"/>
              </a:defRPr>
            </a:pPr>
            <a:r>
              <a:t>1-Click GUI Emergency 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240280"/>
            <a:ext cx="299923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EF4444"/>
                </a:solidFill>
                <a:latin typeface="Trebuchet MS"/>
              </a:defRPr>
            </a:pPr>
            <a:r>
              <a:t>IMMEDIATE TACTICAL REVERSION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560320"/>
            <a:ext cx="299923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Triggered via red 'EMERGENCY STOP' button in top navbar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Immediately flushes all active nftables elements in inet netsentinel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Revokes active quarantines and halts automated enforcements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Detection and packet analysis remain 100% active and unhalted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Button switches to 'CLEAR EMERGENCY STOP' to restore 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1828800"/>
            <a:ext cx="33649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828800"/>
            <a:ext cx="33649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938528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Offline Emergency 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240280"/>
            <a:ext cx="299923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38BDF8"/>
                </a:solidFill>
                <a:latin typeface="Trebuchet MS"/>
              </a:defRPr>
            </a:pPr>
            <a:r>
              <a:t>DISASTER RECOVERY TOOLING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560320"/>
            <a:ext cx="299923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Executed via CLI: 'netsentinel recover' or shell script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Operates offline with zero dependency on the web server or DB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Safely flushes dedicated NetSentinel tables without altering system rules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Guarantees admin SSH (Port 22) and core routing are never stranded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PROTECTION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The Four Selectable Protection Modes (Modes A – 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Policy-driven operational postures matching organizational risk tolerance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E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NetSentinel NIDS/NIPS Engine  |  Active Threat Defense Dashboard Guide  |  Slide 6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468880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4688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Mode A: Monitor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Trebuchet MS"/>
              </a:defRPr>
            </a:pPr>
            <a:r>
              <a:t>ZERO FIREWALL ALTERATION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21945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Passively ingests packet telemetry and IDS alerts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Performs multi-factor correlation &amp; risk scoring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Logs detections to dashboard &amp; audit trail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Guarantees zero packet modification or rule injection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828800"/>
            <a:ext cx="2468880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82880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93852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Trebuchet MS"/>
              </a:defRPr>
            </a:pPr>
            <a:r>
              <a:t>Mode B: Assisted Protection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2402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F59E0B"/>
                </a:solidFill>
                <a:latin typeface="Trebuchet MS"/>
              </a:defRPr>
            </a:pPr>
            <a:r>
              <a:t>HUMAN OPERATOR SIGN-OFF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651760"/>
            <a:ext cx="21945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Calculates proposed nftables rule and blast impact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Generates pending approval card in dashboard banner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Operator reviews risk score &amp; rule before enforcement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Provides one-click Authorize or Reject capabilities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2468880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82880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93852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Trebuchet MS"/>
              </a:defRPr>
            </a:pPr>
            <a:r>
              <a:t>Mode C: Auto Temporary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402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10B981"/>
                </a:solidFill>
                <a:latin typeface="Trebuchet MS"/>
              </a:defRPr>
            </a:pPr>
            <a:r>
              <a:t>AUTOMATED LOW-RISK BLOCKS WITH EXPIRY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651760"/>
            <a:ext cx="21945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Automatically mitigates high-confidence threats (Score ≥ 60)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Enforces temporary blocks with mandatory TTL expiry (e.g. 300s)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Automatic background rollback via scheduled worker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Bypasses critical gateway and allowlisted infrastructure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828800"/>
            <a:ext cx="2468880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828800"/>
            <a:ext cx="24688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93852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Trebuchet MS"/>
              </a:defRPr>
            </a:pPr>
            <a:r>
              <a:t>Mode D: Strict Prevention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2402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EF4444"/>
                </a:solidFill>
                <a:latin typeface="Trebuchet MS"/>
              </a:defRPr>
            </a:pPr>
            <a:r>
              <a:t>IMMEDIATE BOUNDARY DEFENSE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651760"/>
            <a:ext cx="21945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Immediate boundary enforcement against high-risk threats (Score ≥ 80)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Enforces DNS sinkholing (0.0.0.0) against malicious domains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Applies aggressive source connection rate limiting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Strict preservation of essential admin management channels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WORKFLOW &amp; APPROVALS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Operator Approval Workflow (Mode B In Action)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Human-in-the-loop validation process for high-impact protective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E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NetSentinel NIDS/NIPS Engine  |  Active Threat Defense Dashboard Guide  |  Slide 7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212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Trebuchet MS"/>
              </a:defRPr>
            </a:pPr>
            <a:r>
              <a:t>Mode B Human Decision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defRPr sz="1150" b="1">
                <a:solidFill>
                  <a:srgbClr val="F59E0B"/>
                </a:solidFill>
                <a:latin typeface="Trebuchet MS"/>
              </a:defRPr>
            </a:pPr>
            <a:r>
              <a:t>1. Threat Detected &amp; Correlated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An attack (e.g. brute-force) triggers correlation. Risk score exceeds threshold, but Mode B dictates zero autonomous changes without sign-off.</a:t>
            </a:r>
          </a:p>
          <a:p>
            <a:pPr>
              <a:defRPr sz="1150" b="1">
                <a:solidFill>
                  <a:srgbClr val="F59E0B"/>
                </a:solidFill>
                <a:latin typeface="Trebuchet MS"/>
              </a:defRPr>
            </a:pPr>
            <a:r>
              <a:t>2. Approval Request Generated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A yellow alert banner dynamically mounts at the top of the dashboard displaying Target IP, Action Type, Risk Score, and Impact assessment.</a:t>
            </a:r>
          </a:p>
          <a:p>
            <a:pPr>
              <a:defRPr sz="1150" b="1">
                <a:solidFill>
                  <a:srgbClr val="F59E0B"/>
                </a:solidFill>
                <a:latin typeface="Trebuchet MS"/>
              </a:defRPr>
            </a:pPr>
            <a:r>
              <a:t>3. Impact Confirmation Review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Operator clicks 'Review &amp; Authorize'. A dedicated modal presents the exact proposed nftables rule syntax, potential service blast radius, and rule duration.</a:t>
            </a:r>
          </a:p>
          <a:p>
            <a:pPr>
              <a:defRPr sz="1150" b="1">
                <a:solidFill>
                  <a:srgbClr val="F59E0B"/>
                </a:solidFill>
                <a:latin typeface="Trebuchet MS"/>
              </a:defRPr>
            </a:pPr>
            <a:r>
              <a:t>4. Operator Decision &amp; Verification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Authorizing executes the rule in kernel state and runs post-enforcement verification. Rejecting archives the event with an audit justification.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1937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1937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38528"/>
            <a:ext cx="4828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Approval Modal Data Elements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82803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Target: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e.g. 198.51.100.77 (Identifies source IP, subnet, or domain)</a:t>
            </a:r>
          </a:p>
          <a:p>
            <a:pPr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Action Type: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e.g. BLOCK_SOURCE_IP or ISOLATE_ENDPOINT</a:t>
            </a:r>
          </a:p>
          <a:p>
            <a:pPr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Risk Score: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Calibrated numeric score (0-100) combining IDS + Anomaly + TTL</a:t>
            </a:r>
          </a:p>
          <a:p>
            <a:pPr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Proposed Rule: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Exact kernel command: nft add element inet netsentinel blocked_v4 { 198.51.100.77 timeout 300s }</a:t>
            </a:r>
          </a:p>
          <a:p>
            <a:pPr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Potential Impact: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Clear plain-language impact (e.g. Drops inbound connections from external host; internal LAN unaffected)</a:t>
            </a:r>
          </a:p>
          <a:p>
            <a:pPr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Duration: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Automatic expiry lifespan in seconds (default: 300s)</a:t>
            </a:r>
          </a:p>
          <a:p>
            <a:pPr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Buttons: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[Reject Action] (Safe discard) vs [Authorize &amp; Enforce] (Kernel execution)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FIREWALL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Active Firewall Enforcement &amp; Expiry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Real-time kernel nftables tracking with live countdowns and fail-safe unblocking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E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NetSentinel NIDS/NIPS Engine  |  Active Threat Defense Dashboard Guide  |  Slide 8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649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3649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Kernel 'nftables'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99923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38BDF8"/>
                </a:solidFill>
                <a:latin typeface="Trebuchet MS"/>
              </a:defRPr>
            </a:pPr>
            <a:r>
              <a:t>DEDICATED NAMESPACE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299923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All NetSentinel rules exist in a dedicated 'inet netsentinel' table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Never interferes with host base firewall or Docker/container tables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Leverages native timed sets ('timeout 300s') for automatic expiry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Zero stale rule buildup even during heavy attack campaigns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828800"/>
            <a:ext cx="33649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828800"/>
            <a:ext cx="336499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1938528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Trebuchet MS"/>
              </a:defRPr>
            </a:pPr>
            <a:r>
              <a:t>Live Block Countdown HUD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240280"/>
            <a:ext cx="299923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Trebuchet MS"/>
              </a:defRPr>
            </a:pPr>
            <a:r>
              <a:t>REAL-TIME TABLE TELEMETRY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560320"/>
            <a:ext cx="299923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Lists target IP, detection reason, and risk score badge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Displays dynamic live countdown: 'Expires In: 284s'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Calculates time remaining directly from UTC timestamp delta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Provides instant visual feedback on upcoming auto-rollbacks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1828800"/>
            <a:ext cx="33649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828800"/>
            <a:ext cx="336499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938528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Trebuchet MS"/>
              </a:defRPr>
            </a:pPr>
            <a:r>
              <a:t>Unblock &amp; Background Worker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240280"/>
            <a:ext cx="299923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F59E0B"/>
                </a:solidFill>
                <a:latin typeface="Trebuchet MS"/>
              </a:defRPr>
            </a:pPr>
            <a:r>
              <a:t>FAIL-SAFE EXPIRY LIFECYCLE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560320"/>
            <a:ext cx="299923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Background expiration worker polls every 5 seconds per Section 14.11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Expires database records and syncs with kernel state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Manual 'Unblock' button enables instant early rule revocation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Full cryptographic audit logging of unblock reason and operator 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Endpoint Inventory, Quarantine &amp; Allowlisting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Managing internal network assets, containment protocols, and protected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E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NetSentinel NIDS/NIPS Engine  |  Active Threat Defense Dashboard Guide  |  Slide 9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649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3649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Monitored Device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99923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38BDF8"/>
                </a:solidFill>
                <a:latin typeface="Trebuchet MS"/>
              </a:defRPr>
            </a:pPr>
            <a:r>
              <a:t>LAN DISCOVERY &amp; TRUST STATES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299923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Tracks IP, MAC address, hostname, and active protocols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Trust status states: Trusted, Unknown, Suspicious, Restricted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Safe Discovery Rule: Unknown devices trigger observation, NEVER immediate disconnection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One-click 'Trust' button promotes known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828800"/>
            <a:ext cx="33649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828800"/>
            <a:ext cx="3364992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1938528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Endpoint Quarantine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240280"/>
            <a:ext cx="299923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A855F7"/>
                </a:solidFill>
                <a:latin typeface="Trebuchet MS"/>
              </a:defRPr>
            </a:pPr>
            <a:r>
              <a:t>LAN HOST CONTAINMENT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560320"/>
            <a:ext cx="299923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Isolates compromised internal endpoints showing lateral spread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Restricts traffic to observation VLAN or drops non-essential packets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Preserves emergency admin communication and forensics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Instant 'Release' button safely restores client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1828800"/>
            <a:ext cx="33649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828800"/>
            <a:ext cx="336499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938528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Trebuchet MS"/>
              </a:defRPr>
            </a:pPr>
            <a:r>
              <a:t>Protected Infrastructure Allowlist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240280"/>
            <a:ext cx="299923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Trebuchet MS"/>
              </a:defRPr>
            </a:pPr>
            <a:r>
              <a:t>BYPASSING RESPONSE SAFEGUARDS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560320"/>
            <a:ext cx="299923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Pre-seeded with default gateway, DNS servers, and loopback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Strict Step 3 Response Safeguard prevents accidental lockout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Click '+ Add Asset' to whitelist critical servers or subnets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 Shield badge indicates protected asset status across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THREAT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The Built-In Lab Threat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Validating defensive posture and training operators without external attack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E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NetSentinel NIDS/NIPS Engine  |  Active Threat Defense Dashboard Guide  |  Slide 10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2120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Interactive In-Dashboard Simulator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defRPr sz="1150" b="1">
                <a:solidFill>
                  <a:srgbClr val="A855F7"/>
                </a:solidFill>
                <a:latin typeface="Trebuchet MS"/>
              </a:defRPr>
            </a:pPr>
            <a:r>
              <a:t>No External Attack Tools Required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Located directly in the dashboard sidebar. Operators can test any protection policy without needing external Nmap, Hydra, or Metasploit setups.</a:t>
            </a:r>
          </a:p>
          <a:p>
            <a:pPr>
              <a:defRPr sz="1150" b="1">
                <a:solidFill>
                  <a:srgbClr val="A855F7"/>
                </a:solidFill>
                <a:latin typeface="Trebuchet MS"/>
              </a:defRPr>
            </a:pPr>
            <a:r>
              <a:t>Configurable Attack Vectors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Test Port Scanning, SSH/Auth Brute-Force, DoS Rate Anomalies, Malware C2 domain queries, Unauthorized Devices, and AI Anomaly events.</a:t>
            </a:r>
          </a:p>
          <a:p>
            <a:pPr>
              <a:defRPr sz="1150" b="1">
                <a:solidFill>
                  <a:srgbClr val="A855F7"/>
                </a:solidFill>
                <a:latin typeface="Trebuchet MS"/>
              </a:defRPr>
            </a:pPr>
            <a:r>
              <a:t>Calibrated Scoring Inputs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Customize target IP, IDS Severity (0-100), and AI Anomaly Score (0-100) to observe how the correlation engine responds to varying threat thresholds.</a:t>
            </a:r>
          </a:p>
          <a:p>
            <a:pPr>
              <a:defRPr sz="1150" b="1">
                <a:solidFill>
                  <a:srgbClr val="A855F7"/>
                </a:solidFill>
                <a:latin typeface="Trebuchet MS"/>
              </a:defRPr>
            </a:pPr>
            <a:r>
              <a:t>Immediate Policy Feedback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Generates an instant alert modal displaying final risk evaluation score, severity classification, and outcome action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1937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1937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38528"/>
            <a:ext cx="4828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CLI Simulation Scenarios (1–6)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82803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FFFFFF"/>
                </a:solidFill>
                <a:latin typeface="Trebuchet MS"/>
              </a:defRPr>
            </a:pPr>
            <a:r>
              <a:t>Available Command Scenarios:</a:t>
            </a:r>
          </a:p>
          <a:p>
            <a:pPr>
              <a:defRPr sz="1050" b="1">
                <a:solidFill>
                  <a:srgbClr val="38BDF8"/>
                </a:solidFill>
                <a:latin typeface="Consolas"/>
              </a:defRPr>
            </a:pPr>
            <a:r>
              <a:t>$ netsentinel simulate 1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Calibri"/>
              </a:defRPr>
            </a:pPr>
            <a:r>
              <a:t>  Port Scan (Nmap SYN reconnaissance) → Triggers Connection Rate Limiting</a:t>
            </a:r>
          </a:p>
          <a:p>
            <a:pPr>
              <a:defRPr sz="1050" b="1">
                <a:solidFill>
                  <a:srgbClr val="38BDF8"/>
                </a:solidFill>
                <a:latin typeface="Consolas"/>
              </a:defRPr>
            </a:pPr>
            <a:r>
              <a:t>$ netsentinel simulate 2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Calibri"/>
              </a:defRPr>
            </a:pPr>
            <a:r>
              <a:t>  SSH / Auth Brute Force → Triggers Temporary Firewall Block (5 min TTL)</a:t>
            </a:r>
          </a:p>
          <a:p>
            <a:pPr>
              <a:defRPr sz="1050" b="1">
                <a:solidFill>
                  <a:srgbClr val="38BDF8"/>
                </a:solidFill>
                <a:latin typeface="Consolas"/>
              </a:defRPr>
            </a:pPr>
            <a:r>
              <a:t>$ netsentinel simulate 3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Calibri"/>
              </a:defRPr>
            </a:pPr>
            <a:r>
              <a:t>  Malware C2 Communication → Triggers DNS Sinkholing (0.0.0.0 destination)</a:t>
            </a:r>
          </a:p>
          <a:p>
            <a:pPr>
              <a:defRPr sz="1050" b="1">
                <a:solidFill>
                  <a:srgbClr val="38BDF8"/>
                </a:solidFill>
                <a:latin typeface="Consolas"/>
              </a:defRPr>
            </a:pPr>
            <a:r>
              <a:t>$ netsentinel simulate 4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Calibri"/>
              </a:defRPr>
            </a:pPr>
            <a:r>
              <a:t>  DDoS Flood / Rate Anomaly → Triggers Dynamic Traffic Throttling</a:t>
            </a:r>
          </a:p>
          <a:p>
            <a:pPr>
              <a:defRPr sz="1050" b="1">
                <a:solidFill>
                  <a:srgbClr val="38BDF8"/>
                </a:solidFill>
                <a:latin typeface="Consolas"/>
              </a:defRPr>
            </a:pPr>
            <a:r>
              <a:t>$ netsentinel simulate 5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Calibri"/>
              </a:defRPr>
            </a:pPr>
            <a:r>
              <a:t>  Lateral Movement Probe → Verifies Endpoint Quarantine Policy</a:t>
            </a:r>
          </a:p>
          <a:p>
            <a:pPr>
              <a:defRPr sz="1050" b="1">
                <a:solidFill>
                  <a:srgbClr val="38BDF8"/>
                </a:solidFill>
                <a:latin typeface="Consolas"/>
              </a:defRPr>
            </a:pPr>
            <a:r>
              <a:t>$ netsentinel simulate 6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Calibri"/>
              </a:defRPr>
            </a:pPr>
            <a:r>
              <a:t>  Allowlisted Gateway Traffic → Proves Infrastructure Safeguard Protection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AUDIT &amp;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Verification Engine &amp; Cryptographic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Honest reporting via kernel state verification and tamper-evident SHA-256 chaining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E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NetSentinel NIDS/NIPS Engine  |  Active Threat Defense Dashboard Guide  |  Slide 11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212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Trebuchet MS"/>
              </a:defRPr>
            </a:pPr>
            <a:r>
              <a:t>Step 7: Post-Enforcement Kernel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defRPr sz="1150" b="1">
                <a:solidFill>
                  <a:srgbClr val="10B981"/>
                </a:solidFill>
                <a:latin typeface="Trebuchet MS"/>
              </a:defRPr>
            </a:pPr>
            <a:r>
              <a:t>Honest Reporting Mandate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Section 14.11 Step 8 requires NetSentinel to verify before reporting success. A threat is NEVER displayed as blocked based purely on command dispatch.</a:t>
            </a:r>
          </a:p>
          <a:p>
            <a:pPr>
              <a:defRPr sz="1150" b="1">
                <a:solidFill>
                  <a:srgbClr val="10B981"/>
                </a:solidFill>
                <a:latin typeface="Trebuchet MS"/>
              </a:defRPr>
            </a:pPr>
            <a:r>
              <a:t>Direct Kernel Querying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Immediately after issuing an nft command, ResponseVerifier queries the Linux kernel sets directly to confirm element presence:</a:t>
            </a:r>
          </a:p>
          <a:p>
            <a:pPr>
              <a:defRPr sz="1150" b="1">
                <a:solidFill>
                  <a:srgbClr val="10B981"/>
                </a:solidFill>
                <a:latin typeface="Trebuchet MS"/>
              </a:defRPr>
            </a:pPr>
            <a:r>
              <a:t>Verified Badge Display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Enforcements confirmed in the kernel display a green 'VERIFIED' badge. If element insertion fails, the system displays 'FAILED' and triggers an alert.</a:t>
            </a:r>
          </a:p>
          <a:p>
            <a:pPr>
              <a:defRPr sz="1150" b="1">
                <a:solidFill>
                  <a:srgbClr val="10B981"/>
                </a:solidFill>
                <a:latin typeface="Trebuchet MS"/>
              </a:defRPr>
            </a:pPr>
            <a:r>
              <a:t>Impact Metric Counter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The dashboard's top metric card 'Verified Enforcements' tallies all confirmed enforcements, providing an accurate defense scorecard.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1937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1937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38528"/>
            <a:ext cx="4828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Section 14.13 Tamper-Evident Hash Chaining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82803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defRPr sz="1150" b="1">
                <a:solidFill>
                  <a:srgbClr val="38BDF8"/>
                </a:solidFill>
                <a:latin typeface="Trebuchet MS"/>
              </a:defRPr>
            </a:pPr>
            <a:r>
              <a:t>Cryptographic Hash Chaining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Every policy shift, firewall enforcement, approval, rollback, and emergency stop is recorded with a SHA-256 hash incorporating the previous entry's hash.</a:t>
            </a:r>
          </a:p>
          <a:p>
            <a:pPr>
              <a:defRPr sz="1150" b="1">
                <a:solidFill>
                  <a:srgbClr val="38BDF8"/>
                </a:solidFill>
                <a:latin typeface="Trebuchet MS"/>
              </a:defRPr>
            </a:pPr>
            <a:r>
              <a:t>Chain Equation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Hash(n) = SHA256( Hash(n-1) || Timestamp || Operator || EventType || Details || HMAC_Key )</a:t>
            </a:r>
          </a:p>
          <a:p>
            <a:pPr>
              <a:defRPr sz="1150" b="1">
                <a:solidFill>
                  <a:srgbClr val="38BDF8"/>
                </a:solidFill>
                <a:latin typeface="Trebuchet MS"/>
              </a:defRPr>
            </a:pPr>
            <a:r>
              <a:t>Forensic Tamper Detection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Any unauthorized alteration, row deletion, or retroactive edit in the SQLite database breaks the cryptographic chain and triggers an immediate verification fault.</a:t>
            </a:r>
          </a:p>
          <a:p>
            <a:pPr>
              <a:defRPr sz="1150" b="1">
                <a:solidFill>
                  <a:srgbClr val="38BDF8"/>
                </a:solidFill>
                <a:latin typeface="Trebuchet MS"/>
              </a:defRPr>
            </a:pPr>
            <a:r>
              <a:t>Instant Chain Validation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Operators can verify total chain integrity at any time via CLI or API:</a:t>
            </a:r>
            <a:br/>
            <a:r>
              <a:t>$ netsentinel verify</a:t>
            </a:r>
            <a:br/>
            <a:r>
              <a:t>Returns: Validated records count &amp; integrity status.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SOC SOP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Standard Operating Procedures (SOP)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Daily shift checklist, threat triage escalation workflow, and key command cheat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E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NetSentinel NIDS/NIPS Engine  |  Active Threat Defense Dashboard Guide  |  Slide 12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649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3649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Daily Shift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99923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38BDF8"/>
                </a:solidFill>
                <a:latin typeface="Trebuchet MS"/>
              </a:defRPr>
            </a:pPr>
            <a:r>
              <a:t>SOC MORNING ROUTINE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299923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1. Verify Service Health: Check http://localhost:8000 loads with live pulsing dot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2. Confirm Protection Mode: Ensure system is in designated Mode (Mode B or C)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3. Review Hardware Status: Verify ESP32 is Online and Tamper Sensor is SECURED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4. Check Active Blocks: Review active blocks and remaining countdown timers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5. Verify Audit Chain: Run 'netsentinel verify' to ensure zero log tampering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828800"/>
            <a:ext cx="33649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828800"/>
            <a:ext cx="336499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1938528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Trebuchet MS"/>
              </a:defRPr>
            </a:pPr>
            <a:r>
              <a:t>Incident Triage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240280"/>
            <a:ext cx="299923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F59E0B"/>
                </a:solidFill>
                <a:latin typeface="Trebuchet MS"/>
              </a:defRPr>
            </a:pPr>
            <a:r>
              <a:t>HANDLING THREAT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560320"/>
            <a:ext cx="299923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1. Mode B Alert Surface: Review target IP and potential impact before approving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2. Verify Indicator Score: Check if threat is isolated (low score) or correlated (high score)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3. Assess Impact: Confirm target is not a legitimate internal server or external partner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4. Authorize or Reject: Authorize temporary block (default 300s TTL) or reject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5. Early Unblock: If a false positive occurs, click Unblock or execute Rollback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1828800"/>
            <a:ext cx="3364992" cy="4343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828800"/>
            <a:ext cx="336499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938528"/>
            <a:ext cx="29992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Trebuchet MS"/>
              </a:defRPr>
            </a:pPr>
            <a:r>
              <a:t>Emergency Triage Protocol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240280"/>
            <a:ext cx="299923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EF4444"/>
                </a:solidFill>
                <a:latin typeface="Trebuchet MS"/>
              </a:defRPr>
            </a:pPr>
            <a:r>
              <a:t>INCIDENT CONTAINMENT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560320"/>
            <a:ext cx="299923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Network Outage Detected: Click red 'EMERGENCY STOP' button immediately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CLI Emergency Recovery: If web UI is unreachable, run 'netsentinel recover'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Rule Dump Inspection: Run 'netsentinel export' to view raw kernel rules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Test Suite Run: Run 'netsentinel test' to ensure all 26 verification tests pass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Whitelist Addition: Add affected essential IPs to Allowlist panel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